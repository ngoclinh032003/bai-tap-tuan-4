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Lato" charset="0"/>
      <p:regular r:id="rId13"/>
      <p:bold r:id="rId14"/>
      <p:italic r:id="rId15"/>
      <p:boldItalic r:id="rId16"/>
    </p:embeddedFont>
    <p:embeddedFont>
      <p:font typeface="Calibri" pitchFamily="34" charset="0"/>
      <p:regular r:id="rId17"/>
      <p:bold r:id="rId18"/>
      <p:italic r:id="rId19"/>
      <p:boldItalic r:id="rId20"/>
    </p:embeddedFont>
    <p:embeddedFont>
      <p:font typeface="Poppins" charset="0"/>
      <p:regular r:id="rId21"/>
      <p:bold r:id="rId22"/>
      <p:italic r:id="rId23"/>
      <p:boldItalic r:id="rId24"/>
    </p:embeddedFont>
    <p:embeddedFont>
      <p:font typeface="Montserrat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4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895528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28850" y="4466183"/>
            <a:ext cx="77343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467742"/>
            <a:ext cx="11601450" cy="180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MÔ HÌNH HOÁ GIAO THỨC HANDSHAKE VÀ KIỂM TRA LTL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990403" y="3467992"/>
            <a:ext cx="6211044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Môn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học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Đảm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bảo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chất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lượng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thử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2100" b="0" i="0" u="none" strike="noStrike" cap="none" dirty="0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 b="0" i="0" u="none" strike="noStrike" cap="none" dirty="0" err="1">
                <a:solidFill>
                  <a:srgbClr val="0076D6"/>
                </a:solidFill>
                <a:latin typeface="Lato"/>
                <a:ea typeface="Lato"/>
                <a:cs typeface="Lato"/>
                <a:sym typeface="Lato"/>
              </a:rPr>
              <a:t>mềm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228850" y="4761458"/>
            <a:ext cx="3771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2D72"/>
                </a:solidFill>
                <a:latin typeface="Lato"/>
                <a:ea typeface="Lato"/>
                <a:cs typeface="Lato"/>
                <a:sym typeface="Lato"/>
              </a:rPr>
              <a:t>GVHD:</a:t>
            </a:r>
            <a:r>
              <a:rPr lang="en-US" sz="1350" b="0" i="0" u="none" strike="noStrike" cap="none" dirty="0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Th.S</a:t>
            </a:r>
            <a:r>
              <a:rPr lang="en-US" sz="1350" b="0" i="0" u="none" strike="noStrike" cap="none" dirty="0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Phạm</a:t>
            </a:r>
            <a:r>
              <a:rPr lang="en-US" sz="1350" b="0" i="0" u="none" strike="noStrike" cap="none" dirty="0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0" i="0" u="none" strike="noStrike" cap="none" dirty="0" err="1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Trọng</a:t>
            </a:r>
            <a:r>
              <a:rPr lang="en-US" sz="1350" b="0" i="0" u="none" strike="noStrike" cap="none" dirty="0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Huynh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6191250" y="4761458"/>
            <a:ext cx="3771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72"/>
                </a:solidFill>
                <a:latin typeface="Lato"/>
                <a:ea typeface="Lato"/>
                <a:cs typeface="Lato"/>
                <a:sym typeface="Lato"/>
              </a:rPr>
              <a:t>MSSV: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1050080229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28850" y="5171033"/>
            <a:ext cx="3771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72"/>
                </a:solidFill>
                <a:latin typeface="Lato"/>
                <a:ea typeface="Lato"/>
                <a:cs typeface="Lato"/>
                <a:sym typeface="Lato"/>
              </a:rPr>
              <a:t>Sinh viên: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Đoàn Ngọc Linh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191250" y="5171033"/>
            <a:ext cx="3771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02D72"/>
                </a:solidFill>
                <a:latin typeface="Lato"/>
                <a:ea typeface="Lato"/>
                <a:cs typeface="Lato"/>
                <a:sym typeface="Lato"/>
              </a:rPr>
              <a:t>Lớp:</a:t>
            </a:r>
            <a:r>
              <a:rPr lang="en-US" sz="1350" b="0" i="0" u="none" strike="noStrike" cap="none">
                <a:solidFill>
                  <a:srgbClr val="121212"/>
                </a:solidFill>
                <a:latin typeface="Lato"/>
                <a:ea typeface="Lato"/>
                <a:cs typeface="Lato"/>
                <a:sym typeface="Lato"/>
              </a:rPr>
              <a:t> 11CNPM1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62312"/>
            <a:ext cx="5286375" cy="8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157412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Giới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thiệu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Đề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tài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tập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trung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hóa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giao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thức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Handshake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giữa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Sender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Receiver,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sử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dụng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Formal Verification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đảm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bảo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tính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đúng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đắn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của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hệ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thống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2225" y="2114550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34528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Thuộc tính kiểm chứng (LTL):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04691" y="3795712"/>
            <a:ext cx="419844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00125" y="43195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hóa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luồng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dữ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liệu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REQ/ACK.</a:t>
            </a:r>
            <a:endParaRPr dirty="0"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48148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Đảm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bảo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không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xảy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Deadlock.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1000125" y="53101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chứng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thuộc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tính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Liveness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 dirty="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3576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52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3482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Tổng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Quan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Dự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Án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Mục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Tiêu</a:t>
            </a:r>
            <a:endParaRPr dirty="0"/>
          </a:p>
        </p:txBody>
      </p:sp>
      <p:sp>
        <p:nvSpPr>
          <p:cNvPr id="110" name="Google Shape;110;p14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/>
      <p:bldP spid="103" grpId="0"/>
      <p:bldP spid="104" grpId="0"/>
      <p:bldP spid="105" grpId="0"/>
      <p:bldP spid="10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499" y="2581275"/>
            <a:ext cx="3492549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581275"/>
            <a:ext cx="3492549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81275"/>
            <a:ext cx="3492549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9650" y="29622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009650" y="3609975"/>
            <a:ext cx="280706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SPIN Model Checker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1009650" y="4086225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Công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cụ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chứng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mạnh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mẽ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hệ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thống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phần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mềm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đồng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thời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87949" y="29622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87949" y="3609975"/>
            <a:ext cx="280706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Ngôn ngữ PROMELA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787949" y="4086225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Ngôn ngữ chuyên dụng để mô tả các quy trình và tương tác trong hệ thống.</a:t>
            </a:r>
            <a:endParaRPr/>
          </a:p>
        </p:txBody>
      </p:sp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66249" y="29622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566249" y="3609975"/>
            <a:ext cx="2807069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Logic LTL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566249" y="4086225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Linear Temporal Logic dùng để định nghĩa các thuộc tính thời gian cần kiểm chứng.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Nghệ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Nền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Tảng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Sử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Dụng</a:t>
            </a:r>
            <a:endParaRPr dirty="0"/>
          </a:p>
        </p:txBody>
      </p:sp>
      <p:sp>
        <p:nvSpPr>
          <p:cNvPr id="129" name="Google Shape;129;p15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310038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Trong</a:t>
            </a:r>
            <a:r>
              <a:rPr lang="en-US" sz="1404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Phạm</a:t>
            </a:r>
            <a:r>
              <a:rPr lang="en-US" sz="1404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Vi (In Scope)</a:t>
            </a:r>
            <a:endParaRPr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6334125" y="310038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Ngoài Phạm Vi (Out of Scope)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00125" y="3376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Quá trình gửi request từ Sender.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0125" y="38719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Receiver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nhận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request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phản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hồi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ACK.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1000125" y="4367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Phát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hiện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Deadlock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lỗi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đồng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6762750" y="33766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Giao diện người dùng (UI/UX).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762750" y="38719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Truyền dữ liệu thực qua môi trường mạng.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762750" y="436721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Các giao thức phức tạp (TCP/IP stack).</a:t>
            </a:r>
            <a:endParaRPr/>
          </a:p>
        </p:txBody>
      </p:sp>
      <p:pic>
        <p:nvPicPr>
          <p:cNvPr id="143" name="Google Shape;14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4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053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414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4053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Phân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Tích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Yêu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Cầu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Phạm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Vi</a:t>
            </a:r>
            <a:endParaRPr dirty="0"/>
          </a:p>
        </p:txBody>
      </p:sp>
      <p:sp>
        <p:nvSpPr>
          <p:cNvPr id="150" name="Google Shape;150;p16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571500" y="3395662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Chiến</a:t>
            </a:r>
            <a:r>
              <a:rPr lang="en-US" sz="1404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404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lược</a:t>
            </a:r>
            <a:r>
              <a:rPr lang="en-US" sz="1404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Verification</a:t>
            </a:r>
            <a:endParaRPr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571500" y="36718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Sử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dụng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SPIN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quét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toàn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không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gian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trạng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thái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(State Space)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của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nhằm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tìm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mọi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kịch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bản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lỗi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có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thể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xảy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ra.</a:t>
            </a:r>
            <a:endParaRPr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571500" y="45862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Môi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trường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Linux/Windows, GCC Compiler, SPIN Model Checker, Visual Studio Code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Promela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plugin).</a:t>
            </a:r>
            <a:endParaRPr dirty="0"/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571500"/>
            <a:ext cx="5200650" cy="1228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Chiến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Lược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Môi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Trường</a:t>
            </a:r>
            <a:endParaRPr dirty="0"/>
          </a:p>
        </p:txBody>
      </p:sp>
      <p:sp>
        <p:nvSpPr>
          <p:cNvPr id="161" name="Google Shape;161;p17"/>
          <p:cNvSpPr/>
          <p:nvPr/>
        </p:nvSpPr>
        <p:spPr>
          <a:xfrm>
            <a:off x="571500" y="1866900"/>
            <a:ext cx="4953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  <p:bldP spid="158" grpId="0"/>
      <p:bldP spid="159" grpId="0"/>
      <p:bldP spid="1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" y="2114550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6762750" y="262890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thử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Hộp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Đen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Phân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vùng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tương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đương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trạng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thái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Hợp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lệ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(REQ-&gt;ACK)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và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Bất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thường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Mất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ACK, REQ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thất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bại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6762750" y="37338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thử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Hộp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Trắng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phủ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mọi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luồng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điều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khiển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(Path Coverage)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trong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mã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nguồn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PROMELA.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6762750" y="4533900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Trận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Traceability: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Đảm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bảo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100%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yêu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cầu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được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ánh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xạ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vào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các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thử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Thiết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Kế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Ca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Kiểm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Thử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(Test Design)</a:t>
            </a:r>
            <a:endParaRPr dirty="0"/>
          </a:p>
        </p:txBody>
      </p:sp>
      <p:sp>
        <p:nvSpPr>
          <p:cNvPr id="173" name="Google Shape;173;p18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170" grpId="0"/>
      <p:bldP spid="171" grpId="0"/>
      <p:bldP spid="1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76400"/>
            <a:ext cx="11049000" cy="461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Thực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Thi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Kiểm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Thử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Kết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Quả</a:t>
            </a:r>
            <a:endParaRPr dirty="0"/>
          </a:p>
        </p:txBody>
      </p:sp>
      <p:sp>
        <p:nvSpPr>
          <p:cNvPr id="181" name="Google Shape;181;p19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764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28975"/>
            <a:ext cx="528637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571500" y="24288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Quy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trình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kiểm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thử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tự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động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hóa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toàn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bộ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việc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quét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trạng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thái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logic:</a:t>
            </a:r>
            <a:endParaRPr dirty="0"/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2225" y="2114550"/>
            <a:ext cx="5210175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Tự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Động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Hóa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Với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SPIN Model Checker</a:t>
            </a:r>
            <a:endParaRPr dirty="0"/>
          </a:p>
        </p:txBody>
      </p:sp>
      <p:sp>
        <p:nvSpPr>
          <p:cNvPr id="192" name="Google Shape;192;p20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/>
      <p:bldP spid="19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1250"/>
            <a:ext cx="349254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81250"/>
            <a:ext cx="3492549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81250"/>
            <a:ext cx="3492549" cy="251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571500" y="52768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"Hệ thống đạt tiêu chuẩn để triển khai các mô hình giao thức phức tạp hơn."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009650" y="2762250"/>
            <a:ext cx="267339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2D72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009650" y="3219450"/>
            <a:ext cx="280706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Lỗi Nghiêm Trọng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009650" y="3409950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hình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khi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chỉnh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không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còn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xuất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hiện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Deadlock hay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lỗi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logic LTL.</a:t>
            </a:r>
            <a:endParaRPr dirty="0"/>
          </a:p>
        </p:txBody>
      </p:sp>
      <p:pic>
        <p:nvPicPr>
          <p:cNvPr id="205" name="Google Shape;20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7949" y="27622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787949" y="3409950"/>
            <a:ext cx="280706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Chất Lượng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4787949" y="3600450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Hệ thống đáp ứng 100% logic của giao thức Handshake trong môi trường mô hình.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66249" y="2762250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566249" y="3409950"/>
            <a:ext cx="2807069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Bài Học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8566249" y="3600450"/>
            <a:ext cx="26733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Nắm vững Formal Verification giúp xây dựng hệ thống tin cậy ngay từ giai đoạn thiết kế.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Báo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Cáo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Lỗi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&amp;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Đánh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Giá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Chất</a:t>
            </a:r>
            <a:r>
              <a:rPr lang="en-US" sz="3150" b="1" i="0" u="none" strike="noStrike" cap="none" dirty="0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50" b="1" i="0" u="none" strike="noStrike" cap="none" dirty="0" err="1">
                <a:solidFill>
                  <a:srgbClr val="002D72"/>
                </a:solidFill>
                <a:latin typeface="Poppins"/>
                <a:ea typeface="Poppins"/>
                <a:cs typeface="Poppins"/>
                <a:sym typeface="Poppins"/>
              </a:rPr>
              <a:t>Lượng</a:t>
            </a:r>
            <a:endParaRPr dirty="0"/>
          </a:p>
        </p:txBody>
      </p:sp>
      <p:sp>
        <p:nvSpPr>
          <p:cNvPr id="212" name="Google Shape;212;p21"/>
          <p:cNvSpPr/>
          <p:nvPr/>
        </p:nvSpPr>
        <p:spPr>
          <a:xfrm>
            <a:off x="571500" y="1266825"/>
            <a:ext cx="11049000" cy="28575"/>
          </a:xfrm>
          <a:prstGeom prst="rect">
            <a:avLst/>
          </a:prstGeom>
          <a:solidFill>
            <a:srgbClr val="0076D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2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9450" y="14677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933531" y="3197325"/>
            <a:ext cx="102408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>
                <a:solidFill>
                  <a:srgbClr val="1E40AF"/>
                </a:solidFill>
                <a:latin typeface="Montserrat"/>
                <a:ea typeface="Montserrat"/>
                <a:cs typeface="Montserrat"/>
                <a:sym typeface="Montserrat"/>
              </a:rPr>
              <a:t>CẢM ƠN THẦY VÀ CÁC BẠN!</a:t>
            </a:r>
            <a:endParaRPr sz="3900" b="1" dirty="0">
              <a:solidFill>
                <a:srgbClr val="1E40A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2849775" y="3982425"/>
            <a:ext cx="7136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solidFill>
                  <a:srgbClr val="2563EB"/>
                </a:solidFill>
              </a:rPr>
              <a:t>Em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rất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mong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nhận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được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sự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góp</a:t>
            </a:r>
            <a:r>
              <a:rPr lang="en-US" sz="1800" dirty="0">
                <a:solidFill>
                  <a:srgbClr val="2563EB"/>
                </a:solidFill>
              </a:rPr>
              <a:t> ý </a:t>
            </a:r>
            <a:r>
              <a:rPr lang="en-US" sz="1800" dirty="0" err="1">
                <a:solidFill>
                  <a:srgbClr val="2563EB"/>
                </a:solidFill>
              </a:rPr>
              <a:t>từ</a:t>
            </a:r>
            <a:r>
              <a:rPr lang="en-US" sz="1800" dirty="0">
                <a:solidFill>
                  <a:srgbClr val="2563EB"/>
                </a:solidFill>
              </a:rPr>
              <a:t> </a:t>
            </a:r>
            <a:r>
              <a:rPr lang="en-US" sz="1800" dirty="0" err="1">
                <a:solidFill>
                  <a:srgbClr val="2563EB"/>
                </a:solidFill>
              </a:rPr>
              <a:t>Thầy</a:t>
            </a:r>
            <a:endParaRPr sz="1800" dirty="0">
              <a:solidFill>
                <a:srgbClr val="2563EB"/>
              </a:solidFill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378925" y="4865475"/>
            <a:ext cx="30000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 err="1">
                <a:solidFill>
                  <a:srgbClr val="475569"/>
                </a:solidFill>
              </a:rPr>
              <a:t>Sinh</a:t>
            </a:r>
            <a:r>
              <a:rPr lang="en-US" sz="1450" b="1" dirty="0">
                <a:solidFill>
                  <a:srgbClr val="475569"/>
                </a:solidFill>
              </a:rPr>
              <a:t> </a:t>
            </a:r>
            <a:r>
              <a:rPr lang="en-US" sz="1450" b="1" dirty="0" err="1">
                <a:solidFill>
                  <a:srgbClr val="475569"/>
                </a:solidFill>
              </a:rPr>
              <a:t>viên</a:t>
            </a:r>
            <a:r>
              <a:rPr lang="en-US" sz="1450" b="1" dirty="0">
                <a:solidFill>
                  <a:srgbClr val="475569"/>
                </a:solidFill>
              </a:rPr>
              <a:t>:</a:t>
            </a:r>
            <a:r>
              <a:rPr lang="en-US" sz="1450" dirty="0">
                <a:solidFill>
                  <a:srgbClr val="475569"/>
                </a:solidFill>
              </a:rPr>
              <a:t> </a:t>
            </a:r>
            <a:r>
              <a:rPr lang="en-US" sz="1450" dirty="0" err="1">
                <a:solidFill>
                  <a:srgbClr val="475569"/>
                </a:solidFill>
              </a:rPr>
              <a:t>Đoàn</a:t>
            </a:r>
            <a:r>
              <a:rPr lang="en-US" sz="1450" dirty="0">
                <a:solidFill>
                  <a:srgbClr val="475569"/>
                </a:solidFill>
              </a:rPr>
              <a:t> </a:t>
            </a:r>
            <a:r>
              <a:rPr lang="en-US" sz="1450" dirty="0" err="1">
                <a:solidFill>
                  <a:srgbClr val="475569"/>
                </a:solidFill>
              </a:rPr>
              <a:t>Ngọc</a:t>
            </a:r>
            <a:r>
              <a:rPr lang="en-US" sz="1450" dirty="0">
                <a:solidFill>
                  <a:srgbClr val="475569"/>
                </a:solidFill>
              </a:rPr>
              <a:t> </a:t>
            </a:r>
            <a:r>
              <a:rPr lang="en-US" sz="1450" dirty="0" err="1">
                <a:solidFill>
                  <a:srgbClr val="475569"/>
                </a:solidFill>
              </a:rPr>
              <a:t>Linh</a:t>
            </a:r>
            <a:endParaRPr sz="1450" dirty="0">
              <a:solidFill>
                <a:srgbClr val="475569"/>
              </a:solidFill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310875" y="5422275"/>
            <a:ext cx="71361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dirty="0">
                <a:solidFill>
                  <a:srgbClr val="475569"/>
                </a:solidFill>
              </a:rPr>
              <a:t>Email:</a:t>
            </a:r>
            <a:r>
              <a:rPr lang="en-US" sz="1450" dirty="0">
                <a:solidFill>
                  <a:srgbClr val="475569"/>
                </a:solidFill>
              </a:rPr>
              <a:t> 1050080229@sv.hcmunre.edu.vn</a:t>
            </a:r>
            <a:endParaRPr sz="1450" dirty="0">
              <a:solidFill>
                <a:srgbClr val="47556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/>
      <p:bldP spid="220" grpId="0"/>
      <p:bldP spid="221" grpId="0"/>
      <p:bldP spid="2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520</Words>
  <Application>Microsoft Office PowerPoint</Application>
  <PresentationFormat>Custom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Lato</vt:lpstr>
      <vt:lpstr>Calibri</vt:lpstr>
      <vt:lpstr>Poppins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home</cp:lastModifiedBy>
  <cp:revision>3</cp:revision>
  <dcterms:modified xsi:type="dcterms:W3CDTF">2026-03-17T09:34:17Z</dcterms:modified>
</cp:coreProperties>
</file>